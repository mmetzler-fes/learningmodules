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576000" y="2502000"/>
            <a:ext cx="1080000" cy="648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3" name=""/>
          <p:cNvSpPr txBox="1"/>
          <p:nvPr/>
        </p:nvSpPr>
        <p:spPr>
          <a:xfrm>
            <a:off x="576000" y="5184000"/>
            <a:ext cx="7920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r>
              <a:rPr lang="de-DE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LearningModules · Schulung – Designed by Martin Metzler, implementation assisted by AI.</a:t>
            </a:r>
            <a:endParaRPr lang="de-DE" sz="1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76000" y="936000"/>
            <a:ext cx="89280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4600" b="1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de-DE" sz="4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de-DE" sz="4600" b="1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  <a:defRPr lang="de-DE" sz="2400" b="0" u="none" strike="noStrike">
                <a:solidFill>
                  <a:srgbClr val="CBD5E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  <a:def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  <a:defRPr lang="de-DE" sz="17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  <a:def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  <a:def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  <a:def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  <a:def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7pPr>
          </a:lstStyle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de-DE" sz="2400" b="0" u="none" strike="noStrike">
              <a:solidFill>
                <a:srgbClr val="CBD5E1"/>
              </a:solidFill>
              <a:effectLst/>
              <a:uFillTx/>
              <a:latin typeface="Calibri"/>
            </a:endParaRPr>
          </a:p>
          <a:p>
            <a:pPr marL="630000" lvl="1" indent="-288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Zweite Gliederungsebene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882000" lvl="2" indent="-252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</a:pPr>
            <a:r>
              <a:rPr lang="de-DE" sz="17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Dritte Gliederungsebene</a:t>
            </a:r>
            <a:endParaRPr lang="de-DE" sz="17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882000" lvl="3" indent="-252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Vierte Gliederungsebene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882000" lvl="4" indent="-252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Fünfte Gliederungsebene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882000" lvl="5" indent="-252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Sechste Gliederungsebene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882000" lvl="6" indent="-252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Siebte Gliederungsebene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98000" cy="5670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576000" y="5256000"/>
            <a:ext cx="7920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r>
              <a:rPr lang="de-DE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LearningModules · Schulung – Designed by Martin Metzler, implementation assisted by AI.</a:t>
            </a:r>
            <a:endParaRPr lang="de-DE" sz="10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36000" y="2196000"/>
            <a:ext cx="8208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4000" b="1" u="none" strike="noStrike">
                <a:solidFill>
                  <a:srgbClr val="1E293B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de-DE" sz="4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de-DE" sz="40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  <a:defRPr lang="de-DE" sz="24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  <a:def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  <a:defRPr lang="de-DE" sz="17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  <a:def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  <a:def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  <a:def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  <a:def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7pPr>
          </a:lstStyle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de-DE" sz="24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630000" lvl="1" indent="-288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Zweite Gliederungsebene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882000" lvl="2" indent="-252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</a:pPr>
            <a:r>
              <a:rPr lang="de-DE" sz="17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Dritte Gliederungsebene</a:t>
            </a:r>
            <a:endParaRPr lang="de-DE" sz="17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882000" lvl="3" indent="-252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Vierte Gliederungsebene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882000" lvl="4" indent="-252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Fünfte Gliederungsebene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882000" lvl="5" indent="-252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Sechste Gliederungsebene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882000" lvl="6" indent="-252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Siebte Gliederungsebene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576000" y="1000800"/>
            <a:ext cx="864000" cy="396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1" name=""/>
          <p:cNvSpPr/>
          <p:nvPr/>
        </p:nvSpPr>
        <p:spPr>
          <a:xfrm>
            <a:off x="576000" y="5238000"/>
            <a:ext cx="8928000" cy="72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76000" y="5292000"/>
            <a:ext cx="7920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r>
              <a:rPr lang="de-DE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LearningModules · Schulung – Designed by Martin Metzler, implementation assisted by AI.</a:t>
            </a:r>
            <a:endParaRPr lang="de-DE" sz="10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8424000" y="5292000"/>
            <a:ext cx="1080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fld id="{38CB7028-42E6-473E-A211-05E4CB089E66}" type="slidenum">
              <a:rPr lang="de-DE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&lt;Foliennummer&gt;</a:t>
            </a:fld>
            <a:endParaRPr lang="de-DE" sz="10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76000" y="1206000"/>
            <a:ext cx="8928000" cy="38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  <a:def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  <a:def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  <a:defRPr lang="de-DE" sz="17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  <a:def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  <a:def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  <a:def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  <a:def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defRPr>
            </a:lvl7pPr>
          </a:lstStyle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Zweite Gliederungsebene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882000" lvl="2" indent="-252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</a:pPr>
            <a:r>
              <a:rPr lang="de-DE" sz="17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Dritte Gliederungsebene</a:t>
            </a:r>
            <a:endParaRPr lang="de-DE" sz="17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882000" lvl="3" indent="-252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Vierte Gliederungsebene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882000" lvl="4" indent="-252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Fünfte Gliederungsebene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882000" lvl="5" indent="-252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Sechste Gliederungsebene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882000" lvl="6" indent="-252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·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Siebte Gliederungsebene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76000" y="936000"/>
            <a:ext cx="89280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4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LearningModules</a:t>
            </a:r>
            <a:endParaRPr lang="de-DE" sz="4600" b="1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576000" y="2736000"/>
            <a:ext cx="8928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lnSpc>
                <a:spcPct val="115000"/>
              </a:lnSpc>
              <a:buNone/>
            </a:pPr>
            <a:r>
              <a:rPr lang="de-DE" sz="2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Schulung für Lehrkräfte</a:t>
            </a:r>
            <a:endParaRPr lang="de-DE" sz="2200" b="0" u="none" strike="noStrike">
              <a:solidFill>
                <a:srgbClr val="CBD5E1"/>
              </a:solidFill>
              <a:effectLst/>
              <a:uFillTx/>
              <a:latin typeface="Calibri"/>
            </a:endParaRPr>
          </a:p>
          <a:p>
            <a:pPr indent="0" algn="l">
              <a:lnSpc>
                <a:spcPct val="115000"/>
              </a:lnSpc>
              <a:buNone/>
            </a:pPr>
            <a:r>
              <a:rPr lang="de-DE" sz="2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Lernthemen erstellen · im Unterricht einsetzen · Material teilen</a:t>
            </a:r>
            <a:endParaRPr lang="de-DE" sz="2200" b="0" u="none" strike="noStrike">
              <a:solidFill>
                <a:srgbClr val="CBD5E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Inhalt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76000" y="1260000"/>
            <a:ext cx="4284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2000" indent="-342000">
              <a:lnSpc>
                <a:spcPct val="112000"/>
              </a:lnSpc>
              <a:spcBef>
                <a:spcPts val="1417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Vision</a:t>
            </a:r>
            <a:endParaRPr lang="de-DE" sz="2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>
              <a:lnSpc>
                <a:spcPct val="112000"/>
              </a:lnSpc>
              <a:spcBef>
                <a:spcPts val="1417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Funktionsübersicht</a:t>
            </a:r>
            <a:endParaRPr lang="de-DE" sz="2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>
              <a:lnSpc>
                <a:spcPct val="112000"/>
              </a:lnSpc>
              <a:spcBef>
                <a:spcPts val="1417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Lernmodule laden und selbst erstellen</a:t>
            </a:r>
            <a:endParaRPr lang="de-DE" sz="2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>
              <a:lnSpc>
                <a:spcPct val="112000"/>
              </a:lnSpc>
              <a:spcBef>
                <a:spcPts val="1417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Schülerfreigaben erstellen</a:t>
            </a:r>
            <a:endParaRPr lang="de-DE" sz="2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220000" y="1260000"/>
            <a:ext cx="4284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2000" indent="-342000">
              <a:lnSpc>
                <a:spcPct val="112000"/>
              </a:lnSpc>
              <a:spcBef>
                <a:spcPts val="1417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Klassen erstellen</a:t>
            </a:r>
            <a:endParaRPr lang="de-DE" sz="2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>
              <a:lnSpc>
                <a:spcPct val="112000"/>
              </a:lnSpc>
              <a:spcBef>
                <a:spcPts val="1417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Klassen flexibel oder strikt verwenden</a:t>
            </a:r>
            <a:endParaRPr lang="de-DE" sz="2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>
              <a:lnSpc>
                <a:spcPct val="112000"/>
              </a:lnSpc>
              <a:spcBef>
                <a:spcPts val="1417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Lernmodule-Shop</a:t>
            </a:r>
            <a:endParaRPr lang="de-DE" sz="2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>
              <a:lnSpc>
                <a:spcPct val="112000"/>
              </a:lnSpc>
              <a:spcBef>
                <a:spcPts val="1417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Feedback</a:t>
            </a:r>
            <a:endParaRPr lang="de-DE" sz="2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Vision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576000" y="1296000"/>
            <a:ext cx="4176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850"/>
              </a:spcAft>
            </a:pPr>
            <a:r>
              <a:rPr lang="de-DE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Open-Source-Server für LernModule – mit vernetzten Shops</a:t>
            </a:r>
            <a:endParaRPr lang="de-DE" sz="2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>
              <a:lnSpc>
                <a:spcPct val="112000"/>
              </a:lnSpc>
              <a:spcBef>
                <a:spcPts val="567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Anleitung für die Installation an Schulen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>
              <a:lnSpc>
                <a:spcPct val="112000"/>
              </a:lnSpc>
              <a:spcBef>
                <a:spcPts val="567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Wertschätzende Open Educational Resources (OER)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>
              <a:lnSpc>
                <a:spcPct val="110000"/>
              </a:lnSpc>
              <a:spcBef>
                <a:spcPts val="1984"/>
              </a:spcBef>
            </a:pPr>
            <a:r>
              <a:rPr lang="de-DE" sz="2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→ Material teilen &amp; Wirkung schenken</a:t>
            </a:r>
            <a:endParaRPr lang="de-DE" sz="21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23" name=""/>
          <p:cNvSpPr/>
          <p:nvPr/>
        </p:nvSpPr>
        <p:spPr>
          <a:xfrm>
            <a:off x="5652000" y="1800000"/>
            <a:ext cx="3168000" cy="0"/>
          </a:xfrm>
          <a:prstGeom prst="line">
            <a:avLst/>
          </a:prstGeom>
          <a:ln w="18000">
            <a:solidFill>
              <a:srgbClr val="93C5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tIns="-9000" rIns="9000" bIns="-900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24" name=""/>
          <p:cNvSpPr/>
          <p:nvPr/>
        </p:nvSpPr>
        <p:spPr>
          <a:xfrm>
            <a:off x="5652000" y="1800000"/>
            <a:ext cx="1584000" cy="1278000"/>
          </a:xfrm>
          <a:prstGeom prst="line">
            <a:avLst/>
          </a:prstGeom>
          <a:ln w="18000">
            <a:solidFill>
              <a:srgbClr val="93C5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7236000" y="1800000"/>
            <a:ext cx="1584000" cy="1278000"/>
          </a:xfrm>
          <a:prstGeom prst="line">
            <a:avLst/>
          </a:prstGeom>
          <a:ln w="18000">
            <a:solidFill>
              <a:srgbClr val="93C5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26" name=""/>
          <p:cNvSpPr/>
          <p:nvPr/>
        </p:nvSpPr>
        <p:spPr>
          <a:xfrm>
            <a:off x="5652000" y="1800000"/>
            <a:ext cx="72000" cy="2556000"/>
          </a:xfrm>
          <a:prstGeom prst="line">
            <a:avLst/>
          </a:prstGeom>
          <a:ln w="18000">
            <a:solidFill>
              <a:srgbClr val="93C5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27" name=""/>
          <p:cNvSpPr/>
          <p:nvPr/>
        </p:nvSpPr>
        <p:spPr>
          <a:xfrm flipH="1">
            <a:off x="8748000" y="1800000"/>
            <a:ext cx="72000" cy="2556000"/>
          </a:xfrm>
          <a:prstGeom prst="line">
            <a:avLst/>
          </a:prstGeom>
          <a:ln w="18000">
            <a:solidFill>
              <a:srgbClr val="93C5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28" name=""/>
          <p:cNvSpPr/>
          <p:nvPr/>
        </p:nvSpPr>
        <p:spPr>
          <a:xfrm flipV="1">
            <a:off x="5724000" y="3078000"/>
            <a:ext cx="1512000" cy="1278000"/>
          </a:xfrm>
          <a:prstGeom prst="line">
            <a:avLst/>
          </a:prstGeom>
          <a:ln w="18000">
            <a:solidFill>
              <a:srgbClr val="93C5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29" name=""/>
          <p:cNvSpPr/>
          <p:nvPr/>
        </p:nvSpPr>
        <p:spPr>
          <a:xfrm>
            <a:off x="7236000" y="3078000"/>
            <a:ext cx="1512000" cy="1278000"/>
          </a:xfrm>
          <a:prstGeom prst="line">
            <a:avLst/>
          </a:prstGeom>
          <a:ln w="18000">
            <a:solidFill>
              <a:srgbClr val="93C5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30" name=""/>
          <p:cNvSpPr/>
          <p:nvPr/>
        </p:nvSpPr>
        <p:spPr>
          <a:xfrm>
            <a:off x="5724000" y="4356000"/>
            <a:ext cx="3024000" cy="0"/>
          </a:xfrm>
          <a:prstGeom prst="line">
            <a:avLst/>
          </a:prstGeom>
          <a:ln w="18000">
            <a:solidFill>
              <a:srgbClr val="93C5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tIns="-9000" rIns="9000" bIns="-900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31" name=""/>
          <p:cNvSpPr/>
          <p:nvPr/>
        </p:nvSpPr>
        <p:spPr>
          <a:xfrm>
            <a:off x="4968000" y="1209600"/>
            <a:ext cx="1368000" cy="1054800"/>
          </a:xfrm>
          <a:prstGeom prst="rect">
            <a:avLst/>
          </a:prstGeom>
          <a:solidFill>
            <a:srgbClr val="FFFFFF"/>
          </a:solidFill>
          <a:ln w="10800">
            <a:solidFill>
              <a:srgbClr val="E2E8F0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5058000" y="1245600"/>
            <a:ext cx="1188000" cy="1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de-DE" sz="120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Server</a:t>
            </a:r>
            <a:endParaRPr lang="de-DE" sz="1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pic>
        <p:nvPicPr>
          <p:cNvPr id="33" name=""/>
          <p:cNvPicPr/>
          <p:nvPr/>
        </p:nvPicPr>
        <p:blipFill>
          <a:blip r:embed="rId1"/>
          <a:stretch/>
        </p:blipFill>
        <p:spPr>
          <a:xfrm>
            <a:off x="5058000" y="1443600"/>
            <a:ext cx="1188000" cy="74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"/>
          <p:cNvSpPr/>
          <p:nvPr/>
        </p:nvSpPr>
        <p:spPr>
          <a:xfrm>
            <a:off x="8136000" y="1209600"/>
            <a:ext cx="1368000" cy="1054800"/>
          </a:xfrm>
          <a:prstGeom prst="rect">
            <a:avLst/>
          </a:prstGeom>
          <a:solidFill>
            <a:srgbClr val="FFFFFF"/>
          </a:solidFill>
          <a:ln w="10800">
            <a:solidFill>
              <a:srgbClr val="E2E8F0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8226000" y="1245600"/>
            <a:ext cx="1188000" cy="1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de-DE" sz="120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Server</a:t>
            </a:r>
            <a:endParaRPr lang="de-DE" sz="1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pic>
        <p:nvPicPr>
          <p:cNvPr id="36" name=""/>
          <p:cNvPicPr/>
          <p:nvPr/>
        </p:nvPicPr>
        <p:blipFill>
          <a:blip r:embed="rId2"/>
          <a:stretch/>
        </p:blipFill>
        <p:spPr>
          <a:xfrm>
            <a:off x="8226000" y="1443600"/>
            <a:ext cx="1188000" cy="74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"/>
          <p:cNvSpPr/>
          <p:nvPr/>
        </p:nvSpPr>
        <p:spPr>
          <a:xfrm>
            <a:off x="6552000" y="2487600"/>
            <a:ext cx="1368000" cy="1054800"/>
          </a:xfrm>
          <a:prstGeom prst="rect">
            <a:avLst/>
          </a:prstGeom>
          <a:solidFill>
            <a:srgbClr val="FFFFFF"/>
          </a:solidFill>
          <a:ln w="10800">
            <a:solidFill>
              <a:srgbClr val="E2E8F0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6642000" y="2523600"/>
            <a:ext cx="1188000" cy="1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de-DE" sz="120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Server</a:t>
            </a:r>
            <a:endParaRPr lang="de-DE" sz="1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pic>
        <p:nvPicPr>
          <p:cNvPr id="39" name=""/>
          <p:cNvPicPr/>
          <p:nvPr/>
        </p:nvPicPr>
        <p:blipFill>
          <a:blip r:embed="rId3"/>
          <a:stretch/>
        </p:blipFill>
        <p:spPr>
          <a:xfrm>
            <a:off x="6642000" y="2721600"/>
            <a:ext cx="1188000" cy="74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"/>
          <p:cNvSpPr/>
          <p:nvPr/>
        </p:nvSpPr>
        <p:spPr>
          <a:xfrm>
            <a:off x="5040000" y="3765600"/>
            <a:ext cx="1368000" cy="1054800"/>
          </a:xfrm>
          <a:prstGeom prst="rect">
            <a:avLst/>
          </a:prstGeom>
          <a:solidFill>
            <a:srgbClr val="FFFFFF"/>
          </a:solidFill>
          <a:ln w="10800">
            <a:solidFill>
              <a:srgbClr val="E2E8F0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5130000" y="3801600"/>
            <a:ext cx="1188000" cy="1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de-DE" sz="120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Server</a:t>
            </a:r>
            <a:endParaRPr lang="de-DE" sz="1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pic>
        <p:nvPicPr>
          <p:cNvPr id="42" name=""/>
          <p:cNvPicPr/>
          <p:nvPr/>
        </p:nvPicPr>
        <p:blipFill>
          <a:blip r:embed="rId4"/>
          <a:stretch/>
        </p:blipFill>
        <p:spPr>
          <a:xfrm>
            <a:off x="5130000" y="3999600"/>
            <a:ext cx="1188000" cy="74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"/>
          <p:cNvSpPr/>
          <p:nvPr/>
        </p:nvSpPr>
        <p:spPr>
          <a:xfrm>
            <a:off x="8064000" y="3765600"/>
            <a:ext cx="1368000" cy="1054800"/>
          </a:xfrm>
          <a:prstGeom prst="rect">
            <a:avLst/>
          </a:prstGeom>
          <a:solidFill>
            <a:srgbClr val="FFFFFF"/>
          </a:solidFill>
          <a:ln w="10800">
            <a:solidFill>
              <a:srgbClr val="E2E8F0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8154000" y="3801600"/>
            <a:ext cx="1188000" cy="1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de-DE" sz="120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Server</a:t>
            </a:r>
            <a:endParaRPr lang="de-DE" sz="1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pic>
        <p:nvPicPr>
          <p:cNvPr id="45" name=""/>
          <p:cNvPicPr/>
          <p:nvPr/>
        </p:nvPicPr>
        <p:blipFill>
          <a:blip r:embed="rId5"/>
          <a:stretch/>
        </p:blipFill>
        <p:spPr>
          <a:xfrm>
            <a:off x="8154000" y="3999600"/>
            <a:ext cx="1188000" cy="74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Lizenz: frei und offen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47" name=""/>
          <p:cNvSpPr/>
          <p:nvPr/>
        </p:nvSpPr>
        <p:spPr>
          <a:xfrm>
            <a:off x="576000" y="1296000"/>
            <a:ext cx="3024000" cy="3096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48" name=""/>
          <p:cNvSpPr/>
          <p:nvPr/>
        </p:nvSpPr>
        <p:spPr>
          <a:xfrm>
            <a:off x="576000" y="1296000"/>
            <a:ext cx="3024000" cy="504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792000" y="1656000"/>
            <a:ext cx="2592000" cy="244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de-DE" sz="220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GNU AGPL</a:t>
            </a:r>
            <a:endParaRPr lang="de-DE" sz="2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algn="ctr">
              <a:lnSpc>
                <a:spcPct val="100000"/>
              </a:lnSpc>
            </a:pPr>
            <a:r>
              <a:rPr lang="de-DE" sz="7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3.0</a:t>
            </a:r>
            <a:endParaRPr lang="de-DE" sz="7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algn="ctr"/>
            <a:r>
              <a:rPr lang="de-DE" sz="220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oder neuer</a:t>
            </a:r>
            <a:endParaRPr lang="de-DE" sz="2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algn="ctr">
              <a:spcBef>
                <a:spcPts val="1984"/>
              </a:spcBef>
            </a:pPr>
            <a:r>
              <a:rPr lang="de-DE" sz="16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dieselbe Lizenz wie Nextcloud</a:t>
            </a:r>
            <a:endParaRPr lang="de-DE" sz="16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4032000" y="1224000"/>
            <a:ext cx="5472000" cy="32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2000" indent="-342000">
              <a:lnSpc>
                <a:spcPct val="110000"/>
              </a:lnSpc>
              <a:spcBef>
                <a:spcPts val="1276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Frei einsetzen</a:t>
            </a:r>
            <a:endParaRPr lang="de-DE" sz="2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>
              <a:lnSpc>
                <a:spcPct val="110000"/>
              </a:lnSpc>
              <a:spcBef>
                <a:spcPts val="142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7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betreiben und verändern – für jede Schule, kostenlos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>
              <a:lnSpc>
                <a:spcPct val="110000"/>
              </a:lnSpc>
              <a:spcBef>
                <a:spcPts val="1276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Bleibt offen</a:t>
            </a:r>
            <a:endParaRPr lang="de-DE" sz="2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>
              <a:lnSpc>
                <a:spcPct val="110000"/>
              </a:lnSpc>
              <a:spcBef>
                <a:spcPts val="142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7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veränderte Fassungen legen ihren Quelltext offen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>
              <a:lnSpc>
                <a:spcPct val="110000"/>
              </a:lnSpc>
              <a:spcBef>
                <a:spcPts val="1276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Material gehört den Urhebern</a:t>
            </a:r>
            <a:endParaRPr lang="de-DE" sz="2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>
              <a:lnSpc>
                <a:spcPct val="110000"/>
              </a:lnSpc>
              <a:spcBef>
                <a:spcPts val="142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7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die Lizenz gilt nur für die App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>
              <a:lnSpc>
                <a:spcPct val="110000"/>
              </a:lnSpc>
              <a:spcBef>
                <a:spcPts val="1276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Ohne Gewährleistung</a:t>
            </a:r>
            <a:endParaRPr lang="de-DE" sz="2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>
              <a:lnSpc>
                <a:spcPct val="110000"/>
              </a:lnSpc>
              <a:spcBef>
                <a:spcPts val="142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7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wie bei freier Software üblich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032000" y="4644000"/>
            <a:ext cx="5472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de-DE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Quelltext: github.com/mmetzler-fes/LearningModules</a:t>
            </a:r>
            <a:endParaRPr lang="de-DE" sz="16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Was ist LearningModules?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76000" y="1206000"/>
            <a:ext cx="8928000" cy="38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Lernplattform im Browser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ohne Installation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Lernthemen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bestehen aus </a:t>
            </a: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Modulen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Quiz, Lückentext, Zuordnen, Diktat, Arbeitsblatt und mehr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Schüler brauchen kein Konto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Start über Link oder QR-Code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Eigener Server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Namen und Ergebnisse bleiben an der Schule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 txBox="1"/>
          <p:nvPr/>
        </p:nvSpPr>
        <p:spPr>
          <a:xfrm>
            <a:off x="936000" y="1188000"/>
            <a:ext cx="216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de-DE" sz="7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1</a:t>
            </a:r>
            <a:endParaRPr lang="de-DE" sz="7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36000" y="2196000"/>
            <a:ext cx="8208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4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Erstellen</a:t>
            </a:r>
            <a:endParaRPr lang="de-DE" sz="40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936000" y="3240000"/>
            <a:ext cx="8208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lnSpc>
                <a:spcPct val="115000"/>
              </a:lnSpc>
              <a:buNone/>
            </a:pPr>
            <a:r>
              <a:rPr lang="de-DE" sz="2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Vom leeren Lernthema zur fertigen Übung</a:t>
            </a:r>
            <a:endParaRPr lang="de-DE" sz="22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Lernthema und Module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76000" y="1206000"/>
            <a:ext cx="8928000" cy="38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➕ Neues Lernthema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Titel, Beschreibung, Fach und Stufe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📦 Module → ➕ Modul hinzufügen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Typ wählen, ausfüllen, speichern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👁 Vorschau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so sehen es die Schüler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beim Bearbeiten sichert die App laufend einen Entwurf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Freigeben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erst dann sehen Schüler das Thema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Schneller zum Material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60" name=""/>
          <p:cNvSpPr/>
          <p:nvPr/>
        </p:nvSpPr>
        <p:spPr>
          <a:xfrm>
            <a:off x="576000" y="1260000"/>
            <a:ext cx="2782800" cy="2988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61" name=""/>
          <p:cNvSpPr/>
          <p:nvPr/>
        </p:nvSpPr>
        <p:spPr>
          <a:xfrm>
            <a:off x="576000" y="1260000"/>
            <a:ext cx="2782800" cy="504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92000" y="1476000"/>
            <a:ext cx="2350800" cy="4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de-DE" sz="23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📥 Importieren</a:t>
            </a:r>
            <a:endParaRPr lang="de-DE" sz="23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792000" y="1980000"/>
            <a:ext cx="2350800" cy="20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2000"/>
              </a:lnSpc>
              <a:spcAft>
                <a:spcPts val="850"/>
              </a:spcAft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Moodle-Fragen (XML)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>
              <a:lnSpc>
                <a:spcPct val="112000"/>
              </a:lnSpc>
              <a:spcAft>
                <a:spcPts val="850"/>
              </a:spcAft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H5P-Dateien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>
              <a:lnSpc>
                <a:spcPct val="112000"/>
              </a:lnSpc>
              <a:spcAft>
                <a:spcPts val="850"/>
              </a:spcAft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Exporte von Kolleginnen und Kollegen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64" name=""/>
          <p:cNvSpPr/>
          <p:nvPr/>
        </p:nvSpPr>
        <p:spPr>
          <a:xfrm>
            <a:off x="3646800" y="1260000"/>
            <a:ext cx="2782800" cy="2988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65" name=""/>
          <p:cNvSpPr/>
          <p:nvPr/>
        </p:nvSpPr>
        <p:spPr>
          <a:xfrm>
            <a:off x="3646800" y="1260000"/>
            <a:ext cx="2782800" cy="504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3862800" y="1476000"/>
            <a:ext cx="2350800" cy="4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de-DE" sz="23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🤖 KI-Prompt</a:t>
            </a:r>
            <a:endParaRPr lang="de-DE" sz="23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862800" y="1980000"/>
            <a:ext cx="2350800" cy="20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2000"/>
              </a:lnSpc>
              <a:spcAft>
                <a:spcPts val="850"/>
              </a:spcAft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Prompt erzeugen lassen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>
              <a:lnSpc>
                <a:spcPct val="112000"/>
              </a:lnSpc>
              <a:spcAft>
                <a:spcPts val="850"/>
              </a:spcAft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in eine KI einfügen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>
              <a:lnSpc>
                <a:spcPct val="112000"/>
              </a:lnSpc>
              <a:spcAft>
                <a:spcPts val="850"/>
              </a:spcAft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Ergebnis als Thema importieren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68" name=""/>
          <p:cNvSpPr/>
          <p:nvPr/>
        </p:nvSpPr>
        <p:spPr>
          <a:xfrm>
            <a:off x="6721200" y="1260000"/>
            <a:ext cx="2782800" cy="2988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69" name=""/>
          <p:cNvSpPr/>
          <p:nvPr/>
        </p:nvSpPr>
        <p:spPr>
          <a:xfrm>
            <a:off x="6721200" y="1260000"/>
            <a:ext cx="2782800" cy="504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937200" y="1476000"/>
            <a:ext cx="2350800" cy="4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de-DE" sz="23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🛒 Shop</a:t>
            </a:r>
            <a:endParaRPr lang="de-DE" sz="23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937200" y="1980000"/>
            <a:ext cx="2350800" cy="20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2000"/>
              </a:lnSpc>
              <a:spcAft>
                <a:spcPts val="850"/>
              </a:spcAft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fertiges Material übernehmen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>
              <a:lnSpc>
                <a:spcPct val="112000"/>
              </a:lnSpc>
              <a:spcAft>
                <a:spcPts val="850"/>
              </a:spcAft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als eigene Kopie bearbeiten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>
              <a:lnSpc>
                <a:spcPct val="112000"/>
              </a:lnSpc>
              <a:spcAft>
                <a:spcPts val="850"/>
              </a:spcAft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oder direkt nutzen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76000" y="4374000"/>
            <a:ext cx="8928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de-DE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Was importiert oder kopiert wird, startet gesperrt – erst ansehen, dann freigeben.</a:t>
            </a:r>
            <a:endParaRPr lang="de-DE" sz="16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Ordnen und einordnen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576000" y="1206000"/>
            <a:ext cx="8928000" cy="38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📓 Notebooks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wie OneNote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Book › Bereich › Abschnitt › Lernthema, ordnen per Ziehen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🏷 Tags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deine persönliche Ordnung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Books und Bereiche vererben ihre Tags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🗂 Kategorien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für alle gleich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Fach und Bildungsstufe – so finden andere dein Material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 txBox="1"/>
          <p:nvPr/>
        </p:nvSpPr>
        <p:spPr>
          <a:xfrm>
            <a:off x="936000" y="1188000"/>
            <a:ext cx="216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de-DE" sz="7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2</a:t>
            </a:r>
            <a:endParaRPr lang="de-DE" sz="7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36000" y="2196000"/>
            <a:ext cx="8208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4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Unterrichten</a:t>
            </a:r>
            <a:endParaRPr lang="de-DE" sz="40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936000" y="3240000"/>
            <a:ext cx="8208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lnSpc>
                <a:spcPct val="115000"/>
              </a:lnSpc>
              <a:buNone/>
            </a:pPr>
            <a:r>
              <a:rPr lang="de-DE" sz="2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Mit Klassen arbeiten, Links verteilen, Ergebnisse sehen</a:t>
            </a:r>
            <a:endParaRPr lang="de-DE" sz="22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Klassen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76000" y="1206000"/>
            <a:ext cx="8928000" cy="38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🏫 Klassen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je Schuljahr, mit Schülerliste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📥 Einlesen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aus dem SchülerLernTool oder einer Tabelle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🔒 strikt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nur wer in der Liste steht, kommt hinein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Anmeldung mit dem eigenen Namen, ohne Passwort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🧪 Testschüler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Klassenlinks selbst durchspielen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auch bei strikter Anmeldung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In vier Schritten zum Klassenlink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81" name=""/>
          <p:cNvSpPr/>
          <p:nvPr/>
        </p:nvSpPr>
        <p:spPr>
          <a:xfrm>
            <a:off x="1692000" y="1800000"/>
            <a:ext cx="6696000" cy="18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82" name=""/>
          <p:cNvSpPr/>
          <p:nvPr/>
        </p:nvSpPr>
        <p:spPr>
          <a:xfrm>
            <a:off x="1422000" y="1540800"/>
            <a:ext cx="540000" cy="5400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/>
            <a:r>
              <a:rPr lang="de-DE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666000" y="2268000"/>
            <a:ext cx="2052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de-DE" sz="21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Freigeben</a:t>
            </a:r>
            <a:endParaRPr lang="de-DE" sz="21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66000" y="2646000"/>
            <a:ext cx="20520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Schalter auf der Themenkarte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85" name=""/>
          <p:cNvSpPr/>
          <p:nvPr/>
        </p:nvSpPr>
        <p:spPr>
          <a:xfrm>
            <a:off x="3654000" y="1540800"/>
            <a:ext cx="540000" cy="5400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/>
            <a:r>
              <a:rPr lang="de-DE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898000" y="2268000"/>
            <a:ext cx="2052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de-DE" sz="21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Quick-Link</a:t>
            </a:r>
            <a:endParaRPr lang="de-DE" sz="21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898000" y="2646000"/>
            <a:ext cx="20520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auf der Karte, dann die Klasse wählen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88" name=""/>
          <p:cNvSpPr/>
          <p:nvPr/>
        </p:nvSpPr>
        <p:spPr>
          <a:xfrm>
            <a:off x="5886000" y="1540800"/>
            <a:ext cx="540000" cy="5400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/>
            <a:r>
              <a:rPr lang="de-DE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130000" y="2268000"/>
            <a:ext cx="2052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de-DE" sz="21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Verteilen</a:t>
            </a:r>
            <a:endParaRPr lang="de-DE" sz="21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5130000" y="2646000"/>
            <a:ext cx="20520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QR-Code zeigen, Link teilen oder als Datei ablegen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91" name=""/>
          <p:cNvSpPr/>
          <p:nvPr/>
        </p:nvSpPr>
        <p:spPr>
          <a:xfrm>
            <a:off x="8118000" y="1540800"/>
            <a:ext cx="540000" cy="5400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/>
            <a:r>
              <a:rPr lang="de-DE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7362000" y="2268000"/>
            <a:ext cx="2052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de-DE" sz="21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Auswerten</a:t>
            </a:r>
            <a:endParaRPr lang="de-DE" sz="21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7362000" y="2646000"/>
            <a:ext cx="20520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Klassenergebnisse je Schüler und Aufgabe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76000" y="4320000"/>
            <a:ext cx="8928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de-DE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Mehrere Lernthemen, eigene Modi und Einstellungen: 🔗 Schülerfreigaben.</a:t>
            </a:r>
            <a:endParaRPr lang="de-DE" sz="16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So arbeiten Schüler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96" name=""/>
          <p:cNvSpPr/>
          <p:nvPr/>
        </p:nvSpPr>
        <p:spPr>
          <a:xfrm>
            <a:off x="576000" y="1260000"/>
            <a:ext cx="2016000" cy="2988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97" name=""/>
          <p:cNvSpPr/>
          <p:nvPr/>
        </p:nvSpPr>
        <p:spPr>
          <a:xfrm>
            <a:off x="576000" y="1260000"/>
            <a:ext cx="2016000" cy="504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792000" y="1476000"/>
            <a:ext cx="1584000" cy="4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de-DE" sz="19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📝 Quiz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92000" y="1980000"/>
            <a:ext cx="1584000" cy="20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2000"/>
              </a:lnSpc>
              <a:spcAft>
                <a:spcPts val="794"/>
              </a:spcAft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Aufgaben bearbeiten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>
              <a:lnSpc>
                <a:spcPct val="112000"/>
              </a:lnSpc>
              <a:spcAft>
                <a:spcPts val="794"/>
              </a:spcAft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am Ende die Auswertung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00" name=""/>
          <p:cNvSpPr/>
          <p:nvPr/>
        </p:nvSpPr>
        <p:spPr>
          <a:xfrm>
            <a:off x="2880000" y="1260000"/>
            <a:ext cx="2016000" cy="2988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01" name=""/>
          <p:cNvSpPr/>
          <p:nvPr/>
        </p:nvSpPr>
        <p:spPr>
          <a:xfrm>
            <a:off x="2880000" y="1260000"/>
            <a:ext cx="2016000" cy="504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096000" y="1476000"/>
            <a:ext cx="1584000" cy="4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de-DE" sz="19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💡 Lernen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096000" y="1980000"/>
            <a:ext cx="1584000" cy="20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2000"/>
              </a:lnSpc>
              <a:spcAft>
                <a:spcPts val="794"/>
              </a:spcAft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mit Lösungen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>
              <a:lnSpc>
                <a:spcPct val="112000"/>
              </a:lnSpc>
              <a:spcAft>
                <a:spcPts val="794"/>
              </a:spcAft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ohne Eintrag in die Ergebnisse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04" name=""/>
          <p:cNvSpPr/>
          <p:nvPr/>
        </p:nvSpPr>
        <p:spPr>
          <a:xfrm>
            <a:off x="5184000" y="1260000"/>
            <a:ext cx="2016000" cy="2988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05" name=""/>
          <p:cNvSpPr/>
          <p:nvPr/>
        </p:nvSpPr>
        <p:spPr>
          <a:xfrm>
            <a:off x="5184000" y="1260000"/>
            <a:ext cx="2016000" cy="504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400000" y="1476000"/>
            <a:ext cx="1584000" cy="4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de-DE" sz="19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🦉 Begleiter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5400000" y="1980000"/>
            <a:ext cx="1584000" cy="20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2000"/>
              </a:lnSpc>
              <a:spcAft>
                <a:spcPts val="794"/>
              </a:spcAft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Lerneule mit Hinweisen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>
              <a:lnSpc>
                <a:spcPct val="112000"/>
              </a:lnSpc>
              <a:spcAft>
                <a:spcPts val="794"/>
              </a:spcAft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Joker und Lernpunkte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08" name=""/>
          <p:cNvSpPr/>
          <p:nvPr/>
        </p:nvSpPr>
        <p:spPr>
          <a:xfrm>
            <a:off x="7488000" y="1260000"/>
            <a:ext cx="2016000" cy="2988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09" name=""/>
          <p:cNvSpPr/>
          <p:nvPr/>
        </p:nvSpPr>
        <p:spPr>
          <a:xfrm>
            <a:off x="7488000" y="1260000"/>
            <a:ext cx="2016000" cy="504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704000" y="1476000"/>
            <a:ext cx="1584000" cy="4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de-DE" sz="19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🏆 Arena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7704000" y="1980000"/>
            <a:ext cx="1584000" cy="20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2000"/>
              </a:lnSpc>
              <a:spcAft>
                <a:spcPts val="794"/>
              </a:spcAft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alle gleichzeitig, am Beamer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>
              <a:lnSpc>
                <a:spcPct val="112000"/>
              </a:lnSpc>
              <a:spcAft>
                <a:spcPts val="794"/>
              </a:spcAft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mit Rangliste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76000" y="4374000"/>
            <a:ext cx="8928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de-DE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Welche Modi ein Link anbietet, legst du fest – auch eine Klassenarbeit.</a:t>
            </a:r>
            <a:endParaRPr lang="de-DE" sz="16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 txBox="1"/>
          <p:nvPr/>
        </p:nvSpPr>
        <p:spPr>
          <a:xfrm>
            <a:off x="936000" y="1188000"/>
            <a:ext cx="216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de-DE" sz="7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3</a:t>
            </a:r>
            <a:endParaRPr lang="de-DE" sz="7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936000" y="2196000"/>
            <a:ext cx="8208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4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Teilen</a:t>
            </a:r>
            <a:endParaRPr lang="de-DE" sz="40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936000" y="3240000"/>
            <a:ext cx="8208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lnSpc>
                <a:spcPct val="115000"/>
              </a:lnSpc>
              <a:buNone/>
            </a:pPr>
            <a:r>
              <a:rPr lang="de-DE" sz="2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Material teilen &amp; Wirkung schenken</a:t>
            </a:r>
            <a:endParaRPr lang="de-DE" sz="22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Der Shop: Use oder Copy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117" name=""/>
          <p:cNvSpPr/>
          <p:nvPr/>
        </p:nvSpPr>
        <p:spPr>
          <a:xfrm>
            <a:off x="576000" y="1260000"/>
            <a:ext cx="4320000" cy="2988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18" name=""/>
          <p:cNvSpPr/>
          <p:nvPr/>
        </p:nvSpPr>
        <p:spPr>
          <a:xfrm>
            <a:off x="576000" y="1260000"/>
            <a:ext cx="4320000" cy="504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92000" y="1476000"/>
            <a:ext cx="3888000" cy="4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de-DE" sz="23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🔗 Use – das Original nutzen</a:t>
            </a:r>
            <a:endParaRPr lang="de-DE" sz="23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92000" y="1980000"/>
            <a:ext cx="3888000" cy="20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2000"/>
              </a:lnSpc>
              <a:spcAft>
                <a:spcPts val="850"/>
              </a:spcAft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in eigenen Links und Klassen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>
              <a:lnSpc>
                <a:spcPct val="112000"/>
              </a:lnSpc>
              <a:spcAft>
                <a:spcPts val="850"/>
              </a:spcAft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Änderungen am Original wirken sofort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>
              <a:lnSpc>
                <a:spcPct val="112000"/>
              </a:lnSpc>
              <a:spcAft>
                <a:spcPts val="850"/>
              </a:spcAft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nicht bearbeitbar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21" name=""/>
          <p:cNvSpPr/>
          <p:nvPr/>
        </p:nvSpPr>
        <p:spPr>
          <a:xfrm>
            <a:off x="5184000" y="1260000"/>
            <a:ext cx="4320000" cy="2988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22" name=""/>
          <p:cNvSpPr/>
          <p:nvPr/>
        </p:nvSpPr>
        <p:spPr>
          <a:xfrm>
            <a:off x="5184000" y="1260000"/>
            <a:ext cx="4320000" cy="504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5400000" y="1476000"/>
            <a:ext cx="3888000" cy="4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de-DE" sz="23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📥 Copy – eine eigene Kopie</a:t>
            </a:r>
            <a:endParaRPr lang="de-DE" sz="23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400000" y="1980000"/>
            <a:ext cx="3888000" cy="20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2000"/>
              </a:lnSpc>
              <a:spcAft>
                <a:spcPts val="850"/>
              </a:spcAft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frei bearbeiten und ergänzen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>
              <a:lnSpc>
                <a:spcPct val="112000"/>
              </a:lnSpc>
              <a:spcAft>
                <a:spcPts val="850"/>
              </a:spcAft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wer es verfasst hat, bleibt genannt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>
              <a:lnSpc>
                <a:spcPct val="112000"/>
              </a:lnSpc>
              <a:spcAft>
                <a:spcPts val="850"/>
              </a:spcAft>
            </a:pPr>
            <a:r>
              <a:rPr lang="de-DE" sz="1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weitergeben nur zur Nutzung</a:t>
            </a:r>
            <a:endParaRPr lang="de-DE" sz="19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576000" y="4374000"/>
            <a:ext cx="8928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de-DE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Anbieten: 👥 auf der Themenkarte oder in den Notebooks über ⋯ → Teilen.</a:t>
            </a:r>
            <a:endParaRPr lang="de-DE" sz="16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Geteilt &amp; genutzt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576000" y="1206000"/>
            <a:ext cx="8928000" cy="38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📈 Geteilt &amp; genutzt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wo dein Material ankommt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Lehrkräfte, Klassen, Bearbeitungen – auch über Kopien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⭐ Bewerten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was du nutzt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630000" lvl="1" indent="-288000" algn="l">
              <a:lnSpc>
                <a:spcPct val="112000"/>
              </a:lnSpc>
              <a:spcBef>
                <a:spcPts val="283"/>
              </a:spcBef>
              <a:buClr>
                <a:srgbClr val="94A3B8"/>
              </a:buClr>
              <a:buFont typeface="Calibri"/>
              <a:buChar char="–"/>
            </a:pPr>
            <a:r>
              <a:rPr lang="de-DE" sz="1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Sterne, ein Danke, ein Satz an die Creator</a:t>
            </a:r>
            <a:endParaRPr lang="de-DE" sz="19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Alles im Shop ist frei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keine Punkte, kein Preis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🌐 Verbundene Server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Angebote anderer Schulen im Shop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Was bleibt geschützt?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576000" y="1206000"/>
            <a:ext cx="8928000" cy="38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Schülernamen und Ergebnisse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verlassen den Server nie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Offen exportieren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lässt sich nur, was du selbst verfasst hast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Wer etwas verfasst hat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, bleibt genannt – auch in Kopien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🔐 Zwei-Faktor-Anmeldung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schützt dein Konto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 txBox="1"/>
          <p:nvPr/>
        </p:nvSpPr>
        <p:spPr>
          <a:xfrm>
            <a:off x="936000" y="1188000"/>
            <a:ext cx="216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de-DE" sz="7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4</a:t>
            </a:r>
            <a:endParaRPr lang="de-DE" sz="72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36000" y="2196000"/>
            <a:ext cx="8208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4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Selbst ausprobieren</a:t>
            </a:r>
            <a:endParaRPr lang="de-DE" sz="40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936000" y="3240000"/>
            <a:ext cx="8208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lnSpc>
                <a:spcPct val="115000"/>
              </a:lnSpc>
              <a:buNone/>
            </a:pPr>
            <a:r>
              <a:rPr lang="de-DE" sz="2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Ein Lernthema – vom Anlegen bis zum Testlauf</a:t>
            </a:r>
            <a:endParaRPr lang="de-DE" sz="2200" b="0" u="none" strike="noStrike">
              <a:solidFill>
                <a:srgbClr val="64748B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Übung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134" name=""/>
          <p:cNvSpPr/>
          <p:nvPr/>
        </p:nvSpPr>
        <p:spPr>
          <a:xfrm>
            <a:off x="1468800" y="1800000"/>
            <a:ext cx="7142400" cy="18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35" name=""/>
          <p:cNvSpPr/>
          <p:nvPr/>
        </p:nvSpPr>
        <p:spPr>
          <a:xfrm>
            <a:off x="1198800" y="1540800"/>
            <a:ext cx="540000" cy="5400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/>
            <a:r>
              <a:rPr lang="de-DE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66000" y="2268000"/>
            <a:ext cx="16056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de-DE" sz="21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Anlegen</a:t>
            </a:r>
            <a:endParaRPr lang="de-DE" sz="21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666000" y="2646000"/>
            <a:ext cx="16056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Lernthema mit Fach und Stufe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38" name=""/>
          <p:cNvSpPr/>
          <p:nvPr/>
        </p:nvSpPr>
        <p:spPr>
          <a:xfrm>
            <a:off x="2984400" y="1540800"/>
            <a:ext cx="540000" cy="5400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/>
            <a:r>
              <a:rPr lang="de-DE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2451600" y="2268000"/>
            <a:ext cx="16056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de-DE" sz="21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Füllen</a:t>
            </a:r>
            <a:endParaRPr lang="de-DE" sz="21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2451600" y="2646000"/>
            <a:ext cx="16056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drei Module: Quiz, Lückentext, Zuordnen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41" name=""/>
          <p:cNvSpPr/>
          <p:nvPr/>
        </p:nvSpPr>
        <p:spPr>
          <a:xfrm>
            <a:off x="4770000" y="1540800"/>
            <a:ext cx="540000" cy="5400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/>
            <a:r>
              <a:rPr lang="de-DE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4237200" y="2268000"/>
            <a:ext cx="16056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de-DE" sz="21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Freigeben</a:t>
            </a:r>
            <a:endParaRPr lang="de-DE" sz="21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4237200" y="2646000"/>
            <a:ext cx="16056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Quick-Link für eine Klasse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44" name=""/>
          <p:cNvSpPr/>
          <p:nvPr/>
        </p:nvSpPr>
        <p:spPr>
          <a:xfrm>
            <a:off x="6555600" y="1540800"/>
            <a:ext cx="540000" cy="5400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/>
            <a:r>
              <a:rPr lang="de-DE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6022800" y="2268000"/>
            <a:ext cx="16056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de-DE" sz="21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Testen</a:t>
            </a:r>
            <a:endParaRPr lang="de-DE" sz="21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6022800" y="2646000"/>
            <a:ext cx="16056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als Testschüler durchspielen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47" name=""/>
          <p:cNvSpPr/>
          <p:nvPr/>
        </p:nvSpPr>
        <p:spPr>
          <a:xfrm>
            <a:off x="8341200" y="1540800"/>
            <a:ext cx="540000" cy="5400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/>
            <a:r>
              <a:rPr lang="de-DE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7808400" y="2268000"/>
            <a:ext cx="16056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de-DE" sz="21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Ansehen</a:t>
            </a:r>
            <a:endParaRPr lang="de-DE" sz="21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7808400" y="2646000"/>
            <a:ext cx="16056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de-DE" sz="17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das Ergebnis unter Ergebnisse</a:t>
            </a:r>
            <a:endParaRPr lang="de-DE" sz="17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576000" y="252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r>
              <a:rPr lang="de-DE" sz="3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Feedback und Fragen</a:t>
            </a:r>
            <a:endParaRPr lang="de-DE" sz="3400" b="1" u="none" strike="noStrike">
              <a:solidFill>
                <a:srgbClr val="1E293B"/>
              </a:solidFill>
              <a:effectLst/>
              <a:uFillTx/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576000" y="1206000"/>
            <a:ext cx="8928000" cy="38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Feedback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was war hilfreich, was fehlt noch?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?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neben einer Überschrift öffnet die passende Hilfe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📖 Hilfe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in der Seitenleiste – alle Anleitungen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  <a:p>
            <a:pPr marL="342000" indent="-342000" algn="l">
              <a:lnSpc>
                <a:spcPct val="112000"/>
              </a:lnSpc>
              <a:spcBef>
                <a:spcPts val="1191"/>
              </a:spcBef>
              <a:buClr>
                <a:srgbClr val="2563EB"/>
              </a:buClr>
              <a:buSzPct val="70000"/>
              <a:buFont typeface="Calibri"/>
              <a:buChar char="●"/>
            </a:pPr>
            <a:r>
              <a:rPr lang="de-DE" sz="2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Fragen, Ideen, Fehler?</a:t>
            </a:r>
            <a:r>
              <a:rPr lang="de-DE" sz="2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– an die Ansprechperson der Schule</a:t>
            </a:r>
            <a:endParaRPr lang="de-DE" sz="2400" b="0" u="none" strike="noStrike">
              <a:solidFill>
                <a:srgbClr val="334155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de-DE</dc:language>
  <cp:lastModifiedBy/>
  <cp:revision>0</cp:revision>
  <dc:subject/>
  <dc:title/>
</cp:coreProperties>
</file>